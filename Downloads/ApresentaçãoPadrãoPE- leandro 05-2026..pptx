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2.xml" ContentType="application/vnd.openxmlformats-officedocument.drawingml.chartshape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3.xml" ContentType="application/vnd.openxmlformats-officedocument.drawingml.chartshape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rawings/drawing4.xml" ContentType="application/vnd.openxmlformats-officedocument.drawingml.chartshapes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drawings/drawing5.xml" ContentType="application/vnd.openxmlformats-officedocument.drawingml.chartshapes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drawings/drawing6.xml" ContentType="application/vnd.openxmlformats-officedocument.drawingml.chartshapes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drawings/drawing7.xml" ContentType="application/vnd.openxmlformats-officedocument.drawingml.chartshapes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drawings/drawing8.xml" ContentType="application/vnd.openxmlformats-officedocument.drawingml.chartshapes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drawings/drawing9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6" r:id="rId2"/>
    <p:sldId id="271" r:id="rId3"/>
    <p:sldId id="285" r:id="rId4"/>
    <p:sldId id="304" r:id="rId5"/>
    <p:sldId id="310" r:id="rId6"/>
    <p:sldId id="307" r:id="rId7"/>
    <p:sldId id="306" r:id="rId8"/>
    <p:sldId id="290" r:id="rId9"/>
    <p:sldId id="286" r:id="rId10"/>
    <p:sldId id="287" r:id="rId11"/>
    <p:sldId id="288" r:id="rId12"/>
    <p:sldId id="292" r:id="rId13"/>
    <p:sldId id="293" r:id="rId14"/>
    <p:sldId id="295" r:id="rId15"/>
    <p:sldId id="298" r:id="rId16"/>
    <p:sldId id="301" r:id="rId17"/>
    <p:sldId id="289" r:id="rId18"/>
    <p:sldId id="280" r:id="rId19"/>
    <p:sldId id="296" r:id="rId20"/>
    <p:sldId id="281" r:id="rId21"/>
    <p:sldId id="297" r:id="rId22"/>
    <p:sldId id="300" r:id="rId23"/>
    <p:sldId id="302" r:id="rId24"/>
    <p:sldId id="303" r:id="rId25"/>
    <p:sldId id="264" r:id="rId26"/>
  </p:sldIdLst>
  <p:sldSz cx="18288000" cy="10287000"/>
  <p:notesSz cx="6858000" cy="9144000"/>
  <p:embeddedFontLst>
    <p:embeddedFont>
      <p:font typeface="Arial Bold" panose="020B0604020202020204" charset="0"/>
      <p:regular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2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3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chartUserShapes" Target="../drawings/drawing4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chartUserShapes" Target="../drawings/drawing5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chartUserShapes" Target="../drawings/drawing6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chartUserShapes" Target="../drawings/drawing7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chartUserShapes" Target="../drawings/drawing8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chartUserShapes" Target="../drawings/drawing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drawing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rawings/_rels/drawing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0.88352</cdr:x>
      <cdr:y>1</cdr:y>
    </cdr:to>
    <cdr:pic>
      <cdr:nvPicPr>
        <cdr:cNvPr id="4" name="chart">
          <a:extLst xmlns:a="http://schemas.openxmlformats.org/drawingml/2006/main">
            <a:ext uri="{FF2B5EF4-FFF2-40B4-BE49-F238E27FC236}">
              <a16:creationId xmlns:a16="http://schemas.microsoft.com/office/drawing/2014/main" id="{43527835-435D-473F-ABF1-ED6F996D429B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3244088" cy="7187736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0.95067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BA4CECF8-587B-4955-9308-A00EA3413DE7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4429233" cy="7412696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0.06011</cdr:x>
      <cdr:y>0</cdr:y>
    </cdr:from>
    <cdr:to>
      <cdr:x>0.99123</cdr:x>
      <cdr:y>0.92871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ED4F1C6E-72EB-4F58-BFDA-BAE750E3E920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160926" y="0"/>
          <a:ext cx="17983219" cy="7321042"/>
        </a:xfrm>
        <a:prstGeom xmlns:a="http://schemas.openxmlformats.org/drawingml/2006/main" prst="rect">
          <a:avLst/>
        </a:prstGeom>
      </cdr:spPr>
    </cdr:pic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0.07165</cdr:x>
      <cdr:y>0</cdr:y>
    </cdr:from>
    <cdr:to>
      <cdr:x>0.94275</cdr:x>
      <cdr:y>0.94445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EF6A6433-DCD3-4B8E-91D6-7D10027B9ED4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430506" y="0"/>
          <a:ext cx="17390893" cy="7387760"/>
        </a:xfrm>
        <a:prstGeom xmlns:a="http://schemas.openxmlformats.org/drawingml/2006/main" prst="rect">
          <a:avLst/>
        </a:prstGeom>
      </cdr:spPr>
    </cdr:pic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0.98636</cdr:x>
      <cdr:y>0.66345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7B20DA48-DF14-4F8E-BE7D-65067A3B0DBB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9050016" cy="5189670"/>
        </a:xfrm>
        <a:prstGeom xmlns:a="http://schemas.openxmlformats.org/drawingml/2006/main" prst="rect">
          <a:avLst/>
        </a:prstGeom>
      </cdr:spPr>
    </cdr:pic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0.97326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D6134C85-2ED5-4E71-9B31-67A115F6F244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5673857" cy="7197216"/>
        </a:xfrm>
        <a:prstGeom xmlns:a="http://schemas.openxmlformats.org/drawingml/2006/main" prst="rect">
          <a:avLst/>
        </a:prstGeom>
      </cdr:spPr>
    </cdr:pic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0.05256</cdr:x>
      <cdr:y>0.05142</cdr:y>
    </cdr:from>
    <cdr:to>
      <cdr:x>0.86327</cdr:x>
      <cdr:y>0.92243</cdr:y>
    </cdr:to>
    <cdr:pic>
      <cdr:nvPicPr>
        <cdr:cNvPr id="4" name="chart">
          <a:extLst xmlns:a="http://schemas.openxmlformats.org/drawingml/2006/main">
            <a:ext uri="{FF2B5EF4-FFF2-40B4-BE49-F238E27FC236}">
              <a16:creationId xmlns:a16="http://schemas.microsoft.com/office/drawing/2014/main" id="{B9879F5E-78DE-4763-89CB-C23F1B4A7AA6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042990" y="471489"/>
          <a:ext cx="16088868" cy="7986184"/>
        </a:xfrm>
        <a:prstGeom xmlns:a="http://schemas.openxmlformats.org/drawingml/2006/main" prst="rect">
          <a:avLst/>
        </a:prstGeom>
      </cdr:spPr>
    </cdr:pic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0.08831</cdr:x>
      <cdr:y>0.06896</cdr:y>
    </cdr:from>
    <cdr:to>
      <cdr:x>0.84944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0DCECACD-81E2-426E-9C91-FEB1B3C9A58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752600" y="632289"/>
          <a:ext cx="15104893" cy="8536647"/>
        </a:xfrm>
        <a:prstGeom xmlns:a="http://schemas.openxmlformats.org/drawingml/2006/main" prst="rect">
          <a:avLst/>
        </a:prstGeom>
      </cdr:spPr>
    </cdr:pic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0.10367</cdr:x>
      <cdr:y>0.06296</cdr:y>
    </cdr:from>
    <cdr:to>
      <cdr:x>0.85625</cdr:x>
      <cdr:y>0.83179</cdr:y>
    </cdr:to>
    <cdr:pic>
      <cdr:nvPicPr>
        <cdr:cNvPr id="4" name="chart">
          <a:extLst xmlns:a="http://schemas.openxmlformats.org/drawingml/2006/main">
            <a:ext uri="{FF2B5EF4-FFF2-40B4-BE49-F238E27FC236}">
              <a16:creationId xmlns:a16="http://schemas.microsoft.com/office/drawing/2014/main" id="{50CC29E3-A1E2-4A1D-ABD7-35D71A996F1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2057401" y="632289"/>
          <a:ext cx="14935199" cy="7721136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67F8B-2609-4C6A-B648-B712EA4B5DB5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76241-94DF-4EB4-974C-91D99427F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5696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76241-94DF-4EB4-974C-91D99427F8F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7844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/>
          <p:cNvSpPr/>
          <p:nvPr/>
        </p:nvSpPr>
        <p:spPr>
          <a:xfrm>
            <a:off x="0" y="7901902"/>
            <a:ext cx="18288000" cy="3735101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41172" y="522631"/>
            <a:ext cx="3989076" cy="2217468"/>
            <a:chOff x="0" y="0"/>
            <a:chExt cx="5318769" cy="2956624"/>
          </a:xfrm>
        </p:grpSpPr>
        <p:sp>
          <p:nvSpPr>
            <p:cNvPr id="5" name="Freeform 5"/>
            <p:cNvSpPr/>
            <p:nvPr/>
          </p:nvSpPr>
          <p:spPr>
            <a:xfrm>
              <a:off x="0" y="1617791"/>
              <a:ext cx="5318769" cy="685359"/>
            </a:xfrm>
            <a:custGeom>
              <a:avLst/>
              <a:gdLst/>
              <a:ahLst/>
              <a:cxnLst/>
              <a:rect l="l" t="t" r="r" b="b"/>
              <a:pathLst>
                <a:path w="5318769" h="685359">
                  <a:moveTo>
                    <a:pt x="0" y="0"/>
                  </a:moveTo>
                  <a:lnTo>
                    <a:pt x="5318769" y="0"/>
                  </a:lnTo>
                  <a:lnTo>
                    <a:pt x="5318769" y="685359"/>
                  </a:lnTo>
                  <a:lnTo>
                    <a:pt x="0" y="68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46867" b="-329187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18769" cy="1617791"/>
            </a:xfrm>
            <a:custGeom>
              <a:avLst/>
              <a:gdLst/>
              <a:ahLst/>
              <a:cxnLst/>
              <a:rect l="l" t="t" r="r" b="b"/>
              <a:pathLst>
                <a:path w="5318769" h="1617791">
                  <a:moveTo>
                    <a:pt x="0" y="0"/>
                  </a:moveTo>
                  <a:lnTo>
                    <a:pt x="5318769" y="0"/>
                  </a:lnTo>
                  <a:lnTo>
                    <a:pt x="5318769" y="1617791"/>
                  </a:lnTo>
                  <a:lnTo>
                    <a:pt x="0" y="161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6946" b="-18182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303150"/>
              <a:ext cx="5318769" cy="653473"/>
            </a:xfrm>
            <a:custGeom>
              <a:avLst/>
              <a:gdLst/>
              <a:ahLst/>
              <a:cxnLst/>
              <a:rect l="l" t="t" r="r" b="b"/>
              <a:pathLst>
                <a:path w="5318769" h="653473">
                  <a:moveTo>
                    <a:pt x="0" y="0"/>
                  </a:moveTo>
                  <a:lnTo>
                    <a:pt x="5318769" y="0"/>
                  </a:lnTo>
                  <a:lnTo>
                    <a:pt x="5318769" y="653474"/>
                  </a:lnTo>
                  <a:lnTo>
                    <a:pt x="0" y="65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71642" b="-242280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flipV="1">
            <a:off x="1028700" y="3494253"/>
            <a:ext cx="19050" cy="2337212"/>
          </a:xfrm>
          <a:prstGeom prst="line">
            <a:avLst/>
          </a:prstGeom>
          <a:ln w="95250" cap="flat">
            <a:solidFill>
              <a:srgbClr val="0B0B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449777" y="3121098"/>
            <a:ext cx="1870380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6"/>
              </a:lnSpc>
            </a:pPr>
            <a:r>
              <a:rPr lang="en-US" sz="9058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GR &amp; FROTA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6375" y="6212853"/>
            <a:ext cx="7017584" cy="485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23"/>
              </a:lnSpc>
            </a:pP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Apresentado</a:t>
            </a:r>
            <a:r>
              <a:rPr lang="en-US" sz="2873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 por: Leandro </a:t>
            </a: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osmar</a:t>
            </a:r>
            <a:r>
              <a:rPr lang="en-US" sz="2873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berndt</a:t>
            </a:r>
            <a:endParaRPr lang="en-US" sz="2873" b="1" dirty="0">
              <a:solidFill>
                <a:srgbClr val="0B0B3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86375" y="6755773"/>
            <a:ext cx="8886718" cy="48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0"/>
              </a:lnSpc>
            </a:pPr>
            <a:r>
              <a:rPr lang="en-US" sz="2864" b="1" dirty="0" err="1">
                <a:solidFill>
                  <a:srgbClr val="FF6428"/>
                </a:solidFill>
                <a:latin typeface="Arial Bold"/>
                <a:ea typeface="Arial Bold"/>
                <a:cs typeface="Arial Bold"/>
                <a:sym typeface="Arial Bold"/>
              </a:rPr>
              <a:t>Período</a:t>
            </a:r>
            <a:r>
              <a:rPr lang="en-US" sz="2864" b="1" dirty="0">
                <a:solidFill>
                  <a:srgbClr val="FF6428"/>
                </a:solidFill>
                <a:latin typeface="Arial Bold"/>
                <a:ea typeface="Arial Bold"/>
                <a:cs typeface="Arial Bold"/>
                <a:sym typeface="Arial Bold"/>
              </a:rPr>
              <a:t>: 04-2026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667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7" y="1133475"/>
            <a:ext cx="69514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Frota</a:t>
            </a: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2615490"/>
              </p:ext>
            </p:extLst>
          </p:nvPr>
        </p:nvGraphicFramePr>
        <p:xfrm>
          <a:off x="4599946" y="1549632"/>
          <a:ext cx="14990073" cy="7187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757B94DD-6AD4-4052-8384-E50FB77D38E9}"/>
              </a:ext>
            </a:extLst>
          </p:cNvPr>
          <p:cNvSpPr txBox="1"/>
          <p:nvPr/>
        </p:nvSpPr>
        <p:spPr>
          <a:xfrm>
            <a:off x="651227" y="2418524"/>
            <a:ext cx="37688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solidFill>
                  <a:srgbClr val="FF0000"/>
                </a:solidFill>
              </a:rPr>
              <a:t>Mês 05-2026  </a:t>
            </a:r>
          </a:p>
          <a:p>
            <a:endParaRPr lang="pt-BR" sz="4800" dirty="0">
              <a:solidFill>
                <a:srgbClr val="FF0000"/>
              </a:solidFill>
            </a:endParaRPr>
          </a:p>
          <a:p>
            <a:r>
              <a:rPr lang="pt-BR" sz="4800" dirty="0">
                <a:solidFill>
                  <a:srgbClr val="FF0000"/>
                </a:solidFill>
              </a:rPr>
              <a:t> Um aumento de 37,73 %</a:t>
            </a:r>
          </a:p>
        </p:txBody>
      </p:sp>
    </p:spTree>
    <p:extLst>
      <p:ext uri="{BB962C8B-B14F-4D97-AF65-F5344CB8AC3E}">
        <p14:creationId xmlns:p14="http://schemas.microsoft.com/office/powerpoint/2010/main" val="3480104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0"/>
            <a:ext cx="19313483" cy="98679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6360047"/>
              </p:ext>
            </p:extLst>
          </p:nvPr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FBF82836-040B-46B7-ADC9-34990FCE5D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506" y="723901"/>
            <a:ext cx="16116299" cy="815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13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61B1898D-E275-4AA5-87AD-3330602A3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1" y="828674"/>
            <a:ext cx="14923160" cy="804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25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04556B8D-D296-4FDD-85F6-F286250444F2}"/>
              </a:ext>
            </a:extLst>
          </p:cNvPr>
          <p:cNvSpPr txBox="1"/>
          <p:nvPr/>
        </p:nvSpPr>
        <p:spPr>
          <a:xfrm>
            <a:off x="1905000" y="1485900"/>
            <a:ext cx="1558061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/>
              <a:t>FVE9D27  =  FOI RECUPERADO O MOTOR POR COMPLETO</a:t>
            </a:r>
          </a:p>
          <a:p>
            <a:endParaRPr lang="pt-BR" sz="4800" dirty="0"/>
          </a:p>
          <a:p>
            <a:r>
              <a:rPr lang="pt-BR" sz="4800" dirty="0"/>
              <a:t>MLX8C23 = FOI RECUPERADO O DIFERENCIAL E RECUPERADO O EIXO DIANTEIRO </a:t>
            </a:r>
          </a:p>
          <a:p>
            <a:endParaRPr lang="pt-BR" dirty="0"/>
          </a:p>
          <a:p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2279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0F53D577-1786-45A0-81B9-2304E2C058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1" y="1133475"/>
            <a:ext cx="15304160" cy="802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38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EC49071B-2F8F-4FE4-8A5F-2225E2C456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505" y="723901"/>
            <a:ext cx="20515093" cy="842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473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FB2AE-398B-08D5-72B1-A60AFE343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88ABB3-1D41-3FC7-AB6F-0010DFE744B2}"/>
              </a:ext>
            </a:extLst>
          </p:cNvPr>
          <p:cNvSpPr/>
          <p:nvPr/>
        </p:nvSpPr>
        <p:spPr>
          <a:xfrm>
            <a:off x="-1036965" y="-4953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F69C83B-755A-E7E4-3949-7911C827002C}"/>
              </a:ext>
            </a:extLst>
          </p:cNvPr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223EBC0-C4A1-041B-FE8F-D60FB7A140F5}"/>
              </a:ext>
            </a:extLst>
          </p:cNvPr>
          <p:cNvSpPr txBox="1"/>
          <p:nvPr/>
        </p:nvSpPr>
        <p:spPr>
          <a:xfrm>
            <a:off x="1430507" y="1133475"/>
            <a:ext cx="69514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Preventiva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A20F6BB-C472-977B-5D33-30C8FBF05C74}"/>
              </a:ext>
            </a:extLst>
          </p:cNvPr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61060F2-B713-F6BC-8538-12930DC17460}"/>
              </a:ext>
            </a:extLst>
          </p:cNvPr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3416B7B2-D624-EE94-B4FF-290E4DDB9B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1152455"/>
              </p:ext>
            </p:extLst>
          </p:nvPr>
        </p:nvGraphicFramePr>
        <p:xfrm>
          <a:off x="1929383" y="1845603"/>
          <a:ext cx="16206217" cy="7797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37559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EAEC12C-97CA-4888-BBD6-E1A6D1204C49}"/>
              </a:ext>
            </a:extLst>
          </p:cNvPr>
          <p:cNvSpPr/>
          <p:nvPr/>
        </p:nvSpPr>
        <p:spPr>
          <a:xfrm>
            <a:off x="1295400" y="723900"/>
            <a:ext cx="60960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Corretiva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pt-BR" sz="5884" dirty="0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CF344EAB-19A8-EB09-AE40-6E84BA533F8F}"/>
              </a:ext>
            </a:extLst>
          </p:cNvPr>
          <p:cNvSpPr/>
          <p:nvPr/>
        </p:nvSpPr>
        <p:spPr>
          <a:xfrm>
            <a:off x="-1" y="8877300"/>
            <a:ext cx="18288001" cy="14097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87F229F-B47F-4260-863F-67827F34F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1721736"/>
            <a:ext cx="15011400" cy="761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23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EAEC12C-97CA-4888-BBD6-E1A6D1204C49}"/>
              </a:ext>
            </a:extLst>
          </p:cNvPr>
          <p:cNvSpPr/>
          <p:nvPr/>
        </p:nvSpPr>
        <p:spPr>
          <a:xfrm>
            <a:off x="1295400" y="723900"/>
            <a:ext cx="60960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Socorro </a:t>
            </a:r>
            <a:endParaRPr lang="pt-BR" sz="5884" dirty="0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9664D922-D62A-8199-5998-E48D19F8C57D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828132D-8189-4BED-9E21-763F1B0D67C4}"/>
              </a:ext>
            </a:extLst>
          </p:cNvPr>
          <p:cNvSpPr txBox="1"/>
          <p:nvPr/>
        </p:nvSpPr>
        <p:spPr>
          <a:xfrm>
            <a:off x="304800" y="1943100"/>
            <a:ext cx="38862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solidFill>
                  <a:srgbClr val="FF0000"/>
                </a:solidFill>
              </a:rPr>
              <a:t>Mês 05-2026</a:t>
            </a:r>
          </a:p>
          <a:p>
            <a:endParaRPr lang="pt-BR" sz="4800" dirty="0">
              <a:solidFill>
                <a:srgbClr val="FF0000"/>
              </a:solidFill>
            </a:endParaRPr>
          </a:p>
          <a:p>
            <a:r>
              <a:rPr lang="pt-BR" sz="4800" dirty="0">
                <a:solidFill>
                  <a:srgbClr val="FF0000"/>
                </a:solidFill>
              </a:rPr>
              <a:t>Isso Representa uma redução de 68,73% </a:t>
            </a:r>
          </a:p>
          <a:p>
            <a:endParaRPr lang="pt-BR" sz="4800" dirty="0">
              <a:solidFill>
                <a:srgbClr val="FF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E0A052A-A4F8-4337-B300-28F1CAE43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721737"/>
            <a:ext cx="11506200" cy="723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71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EAEC12C-97CA-4888-BBD6-E1A6D1204C49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Acessorios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18C5FBB3-1545-20C2-BAD5-F0DD5D6E9E70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E8B6A30-EB46-41B7-BE31-F4A49F0B8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721736"/>
            <a:ext cx="14859000" cy="761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562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Bau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A416F5A-D7B7-42CB-A71A-C1C6412EB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721736"/>
            <a:ext cx="14020800" cy="738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9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Lavação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ED09DD6-E171-44BF-B1C7-294461120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866900"/>
            <a:ext cx="146304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48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Pneus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79382E8-4255-4045-9ACE-95BF4EABD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721736"/>
            <a:ext cx="14782800" cy="715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070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533400" y="419100"/>
            <a:ext cx="17297400" cy="8551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condicionado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veicular</a:t>
            </a:r>
            <a:endParaRPr lang="en-US" sz="588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          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MKQ2E28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GXH8043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QIY4838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MLM9642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OKG5I79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MKG1B33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APH4G43 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MIY6c60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RYY7F89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OKG5I79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QHC7F95 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NPJ4E43 ( FALTA )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486900"/>
            <a:ext cx="18288001" cy="800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242177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533400" y="419100"/>
            <a:ext cx="17297400" cy="4470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condicionado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veicular</a:t>
            </a:r>
            <a:endParaRPr lang="en-US" sz="588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588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MLX8C23 ( FALTA )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EPP6H50 ( FALTA ) 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MLU0908 ( FALTA )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FVE9D27 ( FALTA ) 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486900"/>
            <a:ext cx="18288001" cy="800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300625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69336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geradas</a:t>
            </a:r>
            <a:r>
              <a:rPr lang="en-US" sz="5844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1842967"/>
              </p:ext>
            </p:extLst>
          </p:nvPr>
        </p:nvGraphicFramePr>
        <p:xfrm>
          <a:off x="-19" y="1832483"/>
          <a:ext cx="19313465" cy="7883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56506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Principais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destinos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7124642"/>
              </p:ext>
            </p:extLst>
          </p:nvPr>
        </p:nvGraphicFramePr>
        <p:xfrm>
          <a:off x="0" y="1765764"/>
          <a:ext cx="19964400" cy="7822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2326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Tempo medio de checklist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8597404"/>
              </p:ext>
            </p:extLst>
          </p:nvPr>
        </p:nvGraphicFramePr>
        <p:xfrm>
          <a:off x="1430488" y="1765764"/>
          <a:ext cx="17882959" cy="7822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17764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Sinistro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735271"/>
              </p:ext>
            </p:extLst>
          </p:nvPr>
        </p:nvGraphicFramePr>
        <p:xfrm>
          <a:off x="2667002" y="1765764"/>
          <a:ext cx="15041968" cy="7197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75650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1142257"/>
              </p:ext>
            </p:extLst>
          </p:nvPr>
        </p:nvGraphicFramePr>
        <p:xfrm>
          <a:off x="-33340" y="1166812"/>
          <a:ext cx="19845339" cy="9168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4571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4579973"/>
              </p:ext>
            </p:extLst>
          </p:nvPr>
        </p:nvGraphicFramePr>
        <p:xfrm>
          <a:off x="-1" y="1133475"/>
          <a:ext cx="19845339" cy="1004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76149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6699742"/>
              </p:ext>
            </p:extLst>
          </p:nvPr>
        </p:nvGraphicFramePr>
        <p:xfrm>
          <a:off x="-1" y="1133475"/>
          <a:ext cx="19845339" cy="1004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0105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36F051F-1587-41A5-9B3E-218269CD4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765764"/>
            <a:ext cx="14535148" cy="726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7514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007533" y="6879598"/>
            <a:ext cx="21262145" cy="475740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21262145" y="0"/>
                </a:moveTo>
                <a:lnTo>
                  <a:pt x="0" y="0"/>
                </a:lnTo>
                <a:lnTo>
                  <a:pt x="0" y="4757404"/>
                </a:lnTo>
                <a:lnTo>
                  <a:pt x="21262145" y="4757404"/>
                </a:lnTo>
                <a:lnTo>
                  <a:pt x="2126214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41172" y="522631"/>
            <a:ext cx="3989076" cy="2217468"/>
            <a:chOff x="0" y="0"/>
            <a:chExt cx="5318769" cy="2956624"/>
          </a:xfrm>
        </p:grpSpPr>
        <p:sp>
          <p:nvSpPr>
            <p:cNvPr id="5" name="Freeform 5"/>
            <p:cNvSpPr/>
            <p:nvPr/>
          </p:nvSpPr>
          <p:spPr>
            <a:xfrm>
              <a:off x="0" y="1617791"/>
              <a:ext cx="5318769" cy="685359"/>
            </a:xfrm>
            <a:custGeom>
              <a:avLst/>
              <a:gdLst/>
              <a:ahLst/>
              <a:cxnLst/>
              <a:rect l="l" t="t" r="r" b="b"/>
              <a:pathLst>
                <a:path w="5318769" h="685359">
                  <a:moveTo>
                    <a:pt x="0" y="0"/>
                  </a:moveTo>
                  <a:lnTo>
                    <a:pt x="5318769" y="0"/>
                  </a:lnTo>
                  <a:lnTo>
                    <a:pt x="5318769" y="685359"/>
                  </a:lnTo>
                  <a:lnTo>
                    <a:pt x="0" y="68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46867" b="-329187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18769" cy="1617791"/>
            </a:xfrm>
            <a:custGeom>
              <a:avLst/>
              <a:gdLst/>
              <a:ahLst/>
              <a:cxnLst/>
              <a:rect l="l" t="t" r="r" b="b"/>
              <a:pathLst>
                <a:path w="5318769" h="1617791">
                  <a:moveTo>
                    <a:pt x="0" y="0"/>
                  </a:moveTo>
                  <a:lnTo>
                    <a:pt x="5318769" y="0"/>
                  </a:lnTo>
                  <a:lnTo>
                    <a:pt x="5318769" y="1617791"/>
                  </a:lnTo>
                  <a:lnTo>
                    <a:pt x="0" y="161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6946" b="-18182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303150"/>
              <a:ext cx="5318769" cy="653473"/>
            </a:xfrm>
            <a:custGeom>
              <a:avLst/>
              <a:gdLst/>
              <a:ahLst/>
              <a:cxnLst/>
              <a:rect l="l" t="t" r="r" b="b"/>
              <a:pathLst>
                <a:path w="5318769" h="653473">
                  <a:moveTo>
                    <a:pt x="0" y="0"/>
                  </a:moveTo>
                  <a:lnTo>
                    <a:pt x="5318769" y="0"/>
                  </a:lnTo>
                  <a:lnTo>
                    <a:pt x="5318769" y="653474"/>
                  </a:lnTo>
                  <a:lnTo>
                    <a:pt x="0" y="65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71642" b="-242280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flipV="1">
            <a:off x="1028700" y="3494253"/>
            <a:ext cx="19050" cy="1126600"/>
          </a:xfrm>
          <a:prstGeom prst="line">
            <a:avLst/>
          </a:prstGeom>
          <a:ln w="95250" cap="flat">
            <a:solidFill>
              <a:srgbClr val="0B0B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370847" y="3370428"/>
            <a:ext cx="1870380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6"/>
              </a:lnSpc>
            </a:pPr>
            <a:r>
              <a:rPr lang="en-US" sz="9058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4293</TotalTime>
  <Words>253</Words>
  <Application>Microsoft Office PowerPoint</Application>
  <PresentationFormat>Personalizar</PresentationFormat>
  <Paragraphs>116</Paragraphs>
  <Slides>25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1" baseType="lpstr">
      <vt:lpstr>Arial</vt:lpstr>
      <vt:lpstr>Calibri</vt:lpstr>
      <vt:lpstr>Wingdings</vt:lpstr>
      <vt:lpstr>Arial MT</vt:lpstr>
      <vt:lpstr>Arial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ApresentaçãoPadrãoPE</dc:title>
  <dc:creator>Usuário</dc:creator>
  <cp:lastModifiedBy>Leandro Osmar</cp:lastModifiedBy>
  <cp:revision>91</cp:revision>
  <dcterms:created xsi:type="dcterms:W3CDTF">2006-08-16T00:00:00Z</dcterms:created>
  <dcterms:modified xsi:type="dcterms:W3CDTF">2026-06-10T20:51:03Z</dcterms:modified>
  <dc:identifier>DAGkDGwIfr0</dc:identifier>
</cp:coreProperties>
</file>