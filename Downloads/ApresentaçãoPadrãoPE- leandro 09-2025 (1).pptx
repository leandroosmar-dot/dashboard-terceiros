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drawings/drawing2.xml" ContentType="application/vnd.openxmlformats-officedocument.drawingml.chartshapes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drawings/drawing3.xml" ContentType="application/vnd.openxmlformats-officedocument.drawingml.chartshapes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drawings/drawing4.xml" ContentType="application/vnd.openxmlformats-officedocument.drawingml.chartshapes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drawings/drawing5.xml" ContentType="application/vnd.openxmlformats-officedocument.drawingml.chartshapes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271" r:id="rId3"/>
    <p:sldId id="285" r:id="rId4"/>
    <p:sldId id="291" r:id="rId5"/>
    <p:sldId id="290" r:id="rId6"/>
    <p:sldId id="286" r:id="rId7"/>
    <p:sldId id="287" r:id="rId8"/>
    <p:sldId id="288" r:id="rId9"/>
    <p:sldId id="292" r:id="rId10"/>
    <p:sldId id="289" r:id="rId11"/>
    <p:sldId id="280" r:id="rId12"/>
    <p:sldId id="281" r:id="rId13"/>
    <p:sldId id="284" r:id="rId14"/>
    <p:sldId id="264" r:id="rId15"/>
  </p:sldIdLst>
  <p:sldSz cx="18288000" cy="10287000"/>
  <p:notesSz cx="6858000" cy="9144000"/>
  <p:embeddedFontLst>
    <p:embeddedFont>
      <p:font typeface="Arial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1" d="100"/>
          <a:sy n="61" d="100"/>
        </p:scale>
        <p:origin x="34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chartUserShapes" Target="../drawings/drawing2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chartUserShapes" Target="../drawings/drawing3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chartUserShapes" Target="../drawings/drawing4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chartUserShapes" Target="../drawings/drawing5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67 %  Atrasado / 33% Em andamento </a:t>
            </a: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67 %  Atrasado / 33% Em andamento </a:t>
            </a: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67 %  Atrasado / 33% Em andamento </a:t>
            </a: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67 %  Atrasado / 33% Em andamento </a:t>
            </a: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userShapes r:id="rId4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userShapes r:id="rId4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userShapes r:id="rId4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userShapes r:id="rId4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G"/></Relationships>
</file>

<file path=ppt/drawing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JPG"/></Relationships>
</file>

<file path=ppt/drawing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drawings/_rels/drawing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/Relationships>
</file>

<file path=ppt/drawings/_rels/drawing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0.23508</cdr:x>
      <cdr:y>0</cdr:y>
    </cdr:from>
    <cdr:to>
      <cdr:x>0.80774</cdr:x>
      <cdr:y>0.90227</cdr:y>
    </cdr:to>
    <cdr:pic>
      <cdr:nvPicPr>
        <cdr:cNvPr id="3" name="Imagem 2">
          <a:extLst xmlns:a="http://schemas.openxmlformats.org/drawingml/2006/main">
            <a:ext uri="{FF2B5EF4-FFF2-40B4-BE49-F238E27FC236}">
              <a16:creationId xmlns:a16="http://schemas.microsoft.com/office/drawing/2014/main" id="{350E94D9-A361-C36E-A601-3C115AA7C479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>
          <a:extLst>
            <a:ext uri="{28A0092B-C50C-407E-A947-70E740481C1C}">
              <a14:useLocalDpi xmlns:a14="http://schemas.microsoft.com/office/drawing/2010/main" val="0"/>
            </a:ext>
          </a:extLst>
        </a:blip>
        <a:stretch xmlns:a="http://schemas.openxmlformats.org/drawingml/2006/main">
          <a:fillRect/>
        </a:stretch>
      </cdr:blipFill>
      <cdr:spPr>
        <a:xfrm xmlns:a="http://schemas.openxmlformats.org/drawingml/2006/main">
          <a:off x="4068316" y="0"/>
          <a:ext cx="9910189" cy="7035336"/>
        </a:xfrm>
        <a:prstGeom xmlns:a="http://schemas.openxmlformats.org/drawingml/2006/main" prst="rect">
          <a:avLst/>
        </a:prstGeom>
      </cdr:spPr>
    </cdr:pic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0.14275</cdr:x>
      <cdr:y>0</cdr:y>
    </cdr:from>
    <cdr:to>
      <cdr:x>0.78052</cdr:x>
      <cdr:y>0.90227</cdr:y>
    </cdr:to>
    <cdr:pic>
      <cdr:nvPicPr>
        <cdr:cNvPr id="6" name="Imagem 5">
          <a:extLst xmlns:a="http://schemas.openxmlformats.org/drawingml/2006/main">
            <a:ext uri="{FF2B5EF4-FFF2-40B4-BE49-F238E27FC236}">
              <a16:creationId xmlns:a16="http://schemas.microsoft.com/office/drawing/2014/main" id="{ED6755D7-8BC2-C664-C471-8EDA66B2D3F8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>
          <a:extLst>
            <a:ext uri="{28A0092B-C50C-407E-A947-70E740481C1C}">
              <a14:useLocalDpi xmlns:a14="http://schemas.microsoft.com/office/drawing/2010/main" val="0"/>
            </a:ext>
          </a:extLst>
        </a:blip>
        <a:stretch xmlns:a="http://schemas.openxmlformats.org/drawingml/2006/main">
          <a:fillRect/>
        </a:stretch>
      </cdr:blipFill>
      <cdr:spPr>
        <a:xfrm xmlns:a="http://schemas.openxmlformats.org/drawingml/2006/main">
          <a:off x="2470483" y="0"/>
          <a:ext cx="11036964" cy="7035336"/>
        </a:xfrm>
        <a:prstGeom xmlns:a="http://schemas.openxmlformats.org/drawingml/2006/main" prst="rect">
          <a:avLst/>
        </a:prstGeom>
      </cdr:spPr>
    </cdr:pic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0.99234</cdr:x>
      <cdr:y>1</cdr:y>
    </cdr:to>
    <cdr:pic>
      <cdr:nvPicPr>
        <cdr:cNvPr id="3" name="chart">
          <a:extLst xmlns:a="http://schemas.openxmlformats.org/drawingml/2006/main">
            <a:ext uri="{FF2B5EF4-FFF2-40B4-BE49-F238E27FC236}">
              <a16:creationId xmlns:a16="http://schemas.microsoft.com/office/drawing/2014/main" id="{865C8B68-6A6E-6251-3191-0493298FB0C1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16983068" cy="7883017"/>
        </a:xfrm>
        <a:prstGeom xmlns:a="http://schemas.openxmlformats.org/drawingml/2006/main" prst="rect">
          <a:avLst/>
        </a:prstGeom>
      </cdr:spPr>
    </cdr:pic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0.97916</cdr:x>
      <cdr:y>0.98132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C219C774-19A8-B044-1307-8716C52467D4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17449799" cy="7676190"/>
        </a:xfrm>
        <a:prstGeom xmlns:a="http://schemas.openxmlformats.org/drawingml/2006/main" prst="rect">
          <a:avLst/>
        </a:prstGeom>
      </cdr:spPr>
    </cdr:pic>
  </cdr:relSizeAnchor>
</c:userShapes>
</file>

<file path=ppt/drawings/drawing5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19731F9B-22BF-5F2B-D63E-5E79E057B56E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16104476" cy="7197217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267F8B-2609-4C6A-B648-B712EA4B5DB5}" type="datetimeFigureOut">
              <a:rPr lang="pt-BR" smtClean="0"/>
              <a:t>15/09/2025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C76241-94DF-4EB4-974C-91D99427F8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5696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76241-94DF-4EB4-974C-91D99427F8F5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7844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chart" Target="../charts/char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6555" b="-16555"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3" name="Freeform 3"/>
          <p:cNvSpPr/>
          <p:nvPr/>
        </p:nvSpPr>
        <p:spPr>
          <a:xfrm>
            <a:off x="0" y="7901902"/>
            <a:ext cx="18288000" cy="3735101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541172" y="522631"/>
            <a:ext cx="3989076" cy="2217468"/>
            <a:chOff x="0" y="0"/>
            <a:chExt cx="5318769" cy="2956624"/>
          </a:xfrm>
        </p:grpSpPr>
        <p:sp>
          <p:nvSpPr>
            <p:cNvPr id="5" name="Freeform 5"/>
            <p:cNvSpPr/>
            <p:nvPr/>
          </p:nvSpPr>
          <p:spPr>
            <a:xfrm>
              <a:off x="0" y="1617791"/>
              <a:ext cx="5318769" cy="685359"/>
            </a:xfrm>
            <a:custGeom>
              <a:avLst/>
              <a:gdLst/>
              <a:ahLst/>
              <a:cxnLst/>
              <a:rect l="l" t="t" r="r" b="b"/>
              <a:pathLst>
                <a:path w="5318769" h="685359">
                  <a:moveTo>
                    <a:pt x="0" y="0"/>
                  </a:moveTo>
                  <a:lnTo>
                    <a:pt x="5318769" y="0"/>
                  </a:lnTo>
                  <a:lnTo>
                    <a:pt x="5318769" y="685359"/>
                  </a:lnTo>
                  <a:lnTo>
                    <a:pt x="0" y="6853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46867" b="-329187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0" y="0"/>
              <a:ext cx="5318769" cy="1617791"/>
            </a:xfrm>
            <a:custGeom>
              <a:avLst/>
              <a:gdLst/>
              <a:ahLst/>
              <a:cxnLst/>
              <a:rect l="l" t="t" r="r" b="b"/>
              <a:pathLst>
                <a:path w="5318769" h="1617791">
                  <a:moveTo>
                    <a:pt x="0" y="0"/>
                  </a:moveTo>
                  <a:lnTo>
                    <a:pt x="5318769" y="0"/>
                  </a:lnTo>
                  <a:lnTo>
                    <a:pt x="5318769" y="1617791"/>
                  </a:lnTo>
                  <a:lnTo>
                    <a:pt x="0" y="1617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6946" b="-181820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2303150"/>
              <a:ext cx="5318769" cy="653473"/>
            </a:xfrm>
            <a:custGeom>
              <a:avLst/>
              <a:gdLst/>
              <a:ahLst/>
              <a:cxnLst/>
              <a:rect l="l" t="t" r="r" b="b"/>
              <a:pathLst>
                <a:path w="5318769" h="653473">
                  <a:moveTo>
                    <a:pt x="0" y="0"/>
                  </a:moveTo>
                  <a:lnTo>
                    <a:pt x="5318769" y="0"/>
                  </a:lnTo>
                  <a:lnTo>
                    <a:pt x="5318769" y="653474"/>
                  </a:lnTo>
                  <a:lnTo>
                    <a:pt x="0" y="653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71642" b="-242280"/>
              </a:stretch>
            </a:blipFill>
          </p:spPr>
        </p:sp>
      </p:grpSp>
      <p:sp>
        <p:nvSpPr>
          <p:cNvPr id="8" name="AutoShape 8"/>
          <p:cNvSpPr/>
          <p:nvPr/>
        </p:nvSpPr>
        <p:spPr>
          <a:xfrm flipV="1">
            <a:off x="1028700" y="3494253"/>
            <a:ext cx="19050" cy="2337212"/>
          </a:xfrm>
          <a:prstGeom prst="line">
            <a:avLst/>
          </a:prstGeom>
          <a:ln w="95250" cap="flat">
            <a:solidFill>
              <a:srgbClr val="0B0B3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1449777" y="3121098"/>
            <a:ext cx="18703803" cy="130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36"/>
              </a:lnSpc>
            </a:pPr>
            <a:r>
              <a:rPr lang="en-US" sz="9058" b="1" dirty="0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GR &amp; FROTA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86375" y="6212853"/>
            <a:ext cx="7017584" cy="485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23"/>
              </a:lnSpc>
            </a:pPr>
            <a:r>
              <a:rPr lang="en-US" sz="2873" b="1" dirty="0" err="1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Apresentado</a:t>
            </a:r>
            <a:r>
              <a:rPr lang="en-US" sz="2873" b="1" dirty="0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 por: Leandro </a:t>
            </a:r>
            <a:r>
              <a:rPr lang="en-US" sz="2873" b="1" dirty="0" err="1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osmar</a:t>
            </a:r>
            <a:r>
              <a:rPr lang="en-US" sz="2873" b="1" dirty="0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873" b="1" dirty="0" err="1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berndt</a:t>
            </a:r>
            <a:endParaRPr lang="en-US" sz="2873" b="1" dirty="0">
              <a:solidFill>
                <a:srgbClr val="0B0B3D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86375" y="6755773"/>
            <a:ext cx="8886718" cy="485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10"/>
              </a:lnSpc>
            </a:pPr>
            <a:r>
              <a:rPr lang="en-US" sz="2864" b="1" dirty="0" err="1">
                <a:solidFill>
                  <a:srgbClr val="FF6428"/>
                </a:solidFill>
                <a:latin typeface="Arial Bold"/>
                <a:ea typeface="Arial Bold"/>
                <a:cs typeface="Arial Bold"/>
                <a:sym typeface="Arial Bold"/>
              </a:rPr>
              <a:t>Período</a:t>
            </a:r>
            <a:r>
              <a:rPr lang="en-US" sz="2864" b="1" dirty="0">
                <a:solidFill>
                  <a:srgbClr val="FF6428"/>
                </a:solidFill>
                <a:latin typeface="Arial Bold"/>
                <a:ea typeface="Arial Bold"/>
                <a:cs typeface="Arial Bold"/>
                <a:sym typeface="Arial Bold"/>
              </a:rPr>
              <a:t>: 08-2025  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7" y="1133475"/>
            <a:ext cx="6951492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Frota</a:t>
            </a: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49581125"/>
              </p:ext>
            </p:extLst>
          </p:nvPr>
        </p:nvGraphicFramePr>
        <p:xfrm>
          <a:off x="1189483" y="1765764"/>
          <a:ext cx="17305790" cy="77973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CaixaDeTexto 7">
            <a:extLst>
              <a:ext uri="{FF2B5EF4-FFF2-40B4-BE49-F238E27FC236}">
                <a16:creationId xmlns:a16="http://schemas.microsoft.com/office/drawing/2014/main" id="{C7515000-1032-40DB-C836-2A329946179C}"/>
              </a:ext>
            </a:extLst>
          </p:cNvPr>
          <p:cNvSpPr txBox="1"/>
          <p:nvPr/>
        </p:nvSpPr>
        <p:spPr>
          <a:xfrm>
            <a:off x="1204721" y="2122608"/>
            <a:ext cx="3611118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/>
              <a:t>No mês 07/2025 </a:t>
            </a:r>
          </a:p>
          <a:p>
            <a:r>
              <a:rPr lang="pt-BR" sz="4400" dirty="0"/>
              <a:t>R$ 182.981,39</a:t>
            </a:r>
          </a:p>
          <a:p>
            <a:endParaRPr lang="pt-BR" sz="4400" dirty="0"/>
          </a:p>
          <a:p>
            <a:r>
              <a:rPr lang="pt-BR" sz="4400" dirty="0"/>
              <a:t> Para o mês 08/2025 representa uma queda de 40,28% </a:t>
            </a:r>
          </a:p>
        </p:txBody>
      </p:sp>
    </p:spTree>
    <p:extLst>
      <p:ext uri="{BB962C8B-B14F-4D97-AF65-F5344CB8AC3E}">
        <p14:creationId xmlns:p14="http://schemas.microsoft.com/office/powerpoint/2010/main" val="3480104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36965" y="-4953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5702455" cy="92500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NPJ4E43  </a:t>
            </a: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0" indent="-857250" algn="l">
              <a:lnSpc>
                <a:spcPts val="4792"/>
              </a:lnSpc>
              <a:buFont typeface="Arial" panose="020B0604020202020204" pitchFamily="34" charset="0"/>
              <a:buChar char="•"/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R$ 28.398,19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Ruim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de 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engatar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as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marchas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, com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isso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abrimos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a Caixa de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marcha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revisamos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</a:p>
          <a:p>
            <a:pPr marL="857250" indent="-857250" algn="l">
              <a:lnSpc>
                <a:spcPts val="4792"/>
              </a:lnSpc>
              <a:buFont typeface="Arial" panose="020B0604020202020204" pitchFamily="34" charset="0"/>
              <a:buChar char="•"/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0" indent="-857250" algn="l">
              <a:lnSpc>
                <a:spcPts val="4792"/>
              </a:lnSpc>
              <a:buFont typeface="Arial" panose="020B0604020202020204" pitchFamily="34" charset="0"/>
              <a:buChar char="•"/>
            </a:pP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Tabela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fipe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de R$ 205.221,00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gasto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representa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13,84%</a:t>
            </a: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6360047"/>
              </p:ext>
            </p:extLst>
          </p:nvPr>
        </p:nvGraphicFramePr>
        <p:xfrm>
          <a:off x="1155035" y="5829300"/>
          <a:ext cx="17305790" cy="3733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733313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7746B-5AE7-8B7A-A8FA-8B16AA269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3123403-7D2E-98F1-FF7C-868B93070150}"/>
              </a:ext>
            </a:extLst>
          </p:cNvPr>
          <p:cNvSpPr/>
          <p:nvPr/>
        </p:nvSpPr>
        <p:spPr>
          <a:xfrm>
            <a:off x="-1036965" y="-4953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806D07E-BCB6-E50A-8E66-06D62FC54A3E}"/>
              </a:ext>
            </a:extLst>
          </p:cNvPr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3DD808D-B469-F0ED-45D0-C1E0B3ED766E}"/>
              </a:ext>
            </a:extLst>
          </p:cNvPr>
          <p:cNvSpPr txBox="1"/>
          <p:nvPr/>
        </p:nvSpPr>
        <p:spPr>
          <a:xfrm>
            <a:off x="1430506" y="1133475"/>
            <a:ext cx="15702455" cy="92500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MKG1B33  </a:t>
            </a: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0" indent="-857250" algn="l">
              <a:lnSpc>
                <a:spcPts val="4792"/>
              </a:lnSpc>
              <a:buFont typeface="Arial" panose="020B0604020202020204" pitchFamily="34" charset="0"/>
              <a:buChar char="•"/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R$ 23.299,00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Ruim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de 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engatar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as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marchas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, com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isso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abrimos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a Caixa de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marcha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revisamos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</a:p>
          <a:p>
            <a:pPr marL="857250" indent="-857250" algn="l">
              <a:lnSpc>
                <a:spcPts val="4792"/>
              </a:lnSpc>
              <a:buFont typeface="Arial" panose="020B0604020202020204" pitchFamily="34" charset="0"/>
              <a:buChar char="•"/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0" indent="-857250" algn="l">
              <a:lnSpc>
                <a:spcPts val="4792"/>
              </a:lnSpc>
              <a:buFont typeface="Arial" panose="020B0604020202020204" pitchFamily="34" charset="0"/>
              <a:buChar char="•"/>
            </a:pP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Tabela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fipe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de R$ 230.987,00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gasto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representa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10,09%</a:t>
            </a: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1CF7F1B-9A7A-CBDF-8F70-305DB1A5C506}"/>
              </a:ext>
            </a:extLst>
          </p:cNvPr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8999080A-F6BE-7161-7963-05533672534E}"/>
              </a:ext>
            </a:extLst>
          </p:cNvPr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FC2B6F9-5421-92F9-BF79-8BFD07BB2250}"/>
              </a:ext>
            </a:extLst>
          </p:cNvPr>
          <p:cNvGraphicFramePr/>
          <p:nvPr/>
        </p:nvGraphicFramePr>
        <p:xfrm>
          <a:off x="1155035" y="5829300"/>
          <a:ext cx="17305790" cy="3733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692440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FB2AE-398B-08D5-72B1-A60AFE343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488ABB3-1D41-3FC7-AB6F-0010DFE744B2}"/>
              </a:ext>
            </a:extLst>
          </p:cNvPr>
          <p:cNvSpPr/>
          <p:nvPr/>
        </p:nvSpPr>
        <p:spPr>
          <a:xfrm>
            <a:off x="-1036965" y="-4953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7F69C83B-755A-E7E4-3949-7911C827002C}"/>
              </a:ext>
            </a:extLst>
          </p:cNvPr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223EBC0-C4A1-041B-FE8F-D60FB7A140F5}"/>
              </a:ext>
            </a:extLst>
          </p:cNvPr>
          <p:cNvSpPr txBox="1"/>
          <p:nvPr/>
        </p:nvSpPr>
        <p:spPr>
          <a:xfrm>
            <a:off x="1430507" y="1133475"/>
            <a:ext cx="6951492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Preventiva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A20F6BB-C472-977B-5D33-30C8FBF05C74}"/>
              </a:ext>
            </a:extLst>
          </p:cNvPr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F61060F2-B713-F6BC-8538-12930DC17460}"/>
              </a:ext>
            </a:extLst>
          </p:cNvPr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3416B7B2-D624-EE94-B4FF-290E4DDB9B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52034409"/>
              </p:ext>
            </p:extLst>
          </p:nvPr>
        </p:nvGraphicFramePr>
        <p:xfrm>
          <a:off x="1155035" y="1765764"/>
          <a:ext cx="17305790" cy="77973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837559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7EAEC12C-97CA-4888-BBD6-E1A6D1204C49}"/>
              </a:ext>
            </a:extLst>
          </p:cNvPr>
          <p:cNvSpPr/>
          <p:nvPr/>
        </p:nvSpPr>
        <p:spPr>
          <a:xfrm>
            <a:off x="1295400" y="723900"/>
            <a:ext cx="6096000" cy="997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Corretiva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pt-BR" sz="5884" dirty="0"/>
          </a:p>
        </p:txBody>
      </p:sp>
      <p:sp>
        <p:nvSpPr>
          <p:cNvPr id="5" name="Freeform 6">
            <a:extLst>
              <a:ext uri="{FF2B5EF4-FFF2-40B4-BE49-F238E27FC236}">
                <a16:creationId xmlns:a16="http://schemas.microsoft.com/office/drawing/2014/main" id="{CF344EAB-19A8-EB09-AE40-6E84BA533F8F}"/>
              </a:ext>
            </a:extLst>
          </p:cNvPr>
          <p:cNvSpPr/>
          <p:nvPr/>
        </p:nvSpPr>
        <p:spPr>
          <a:xfrm>
            <a:off x="-1" y="8877300"/>
            <a:ext cx="18288001" cy="14097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990B11A-6156-5824-B07E-42911B126D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1721737"/>
            <a:ext cx="9906000" cy="7369960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A4137964-8947-DCE9-9B56-521306DADBA0}"/>
              </a:ext>
            </a:extLst>
          </p:cNvPr>
          <p:cNvSpPr txBox="1"/>
          <p:nvPr/>
        </p:nvSpPr>
        <p:spPr>
          <a:xfrm>
            <a:off x="1828800" y="1790700"/>
            <a:ext cx="3810000" cy="7417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/>
              <a:t>No mês 07/2025 foi gasto R$122.479,27 </a:t>
            </a:r>
          </a:p>
          <a:p>
            <a:endParaRPr lang="pt-BR" sz="4400" dirty="0"/>
          </a:p>
          <a:p>
            <a:r>
              <a:rPr lang="pt-BR" sz="4400" dirty="0"/>
              <a:t>Para o mês 08/2025 representa uma queda de  27,80 %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36423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7EAEC12C-97CA-4888-BBD6-E1A6D1204C49}"/>
              </a:ext>
            </a:extLst>
          </p:cNvPr>
          <p:cNvSpPr/>
          <p:nvPr/>
        </p:nvSpPr>
        <p:spPr>
          <a:xfrm>
            <a:off x="1295400" y="723900"/>
            <a:ext cx="6096000" cy="997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Socorro </a:t>
            </a:r>
            <a:endParaRPr lang="pt-BR" sz="5884" dirty="0"/>
          </a:p>
        </p:txBody>
      </p:sp>
      <p:sp>
        <p:nvSpPr>
          <p:cNvPr id="3" name="Freeform 6">
            <a:extLst>
              <a:ext uri="{FF2B5EF4-FFF2-40B4-BE49-F238E27FC236}">
                <a16:creationId xmlns:a16="http://schemas.microsoft.com/office/drawing/2014/main" id="{9664D922-D62A-8199-5998-E48D19F8C57D}"/>
              </a:ext>
            </a:extLst>
          </p:cNvPr>
          <p:cNvSpPr/>
          <p:nvPr/>
        </p:nvSpPr>
        <p:spPr>
          <a:xfrm>
            <a:off x="-1" y="9105900"/>
            <a:ext cx="18288001" cy="11811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F5B582F-6518-DA48-79B4-0D973CAD98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0" y="1721737"/>
            <a:ext cx="10820400" cy="7612763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D93584F2-4BB5-9212-E272-54314C55F023}"/>
              </a:ext>
            </a:extLst>
          </p:cNvPr>
          <p:cNvSpPr txBox="1"/>
          <p:nvPr/>
        </p:nvSpPr>
        <p:spPr>
          <a:xfrm>
            <a:off x="1600200" y="1943100"/>
            <a:ext cx="3886200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/>
              <a:t>No mês 07/2025 foi gasto </a:t>
            </a:r>
          </a:p>
          <a:p>
            <a:r>
              <a:rPr lang="pt-BR" sz="4400" dirty="0"/>
              <a:t>R$ 5.252,00 </a:t>
            </a:r>
          </a:p>
          <a:p>
            <a:endParaRPr lang="pt-BR" sz="4400" dirty="0"/>
          </a:p>
          <a:p>
            <a:r>
              <a:rPr lang="pt-BR" sz="4400" dirty="0"/>
              <a:t>Para o mês 08/2025 representa uma queda de 26,17%</a:t>
            </a:r>
          </a:p>
        </p:txBody>
      </p:sp>
    </p:spTree>
    <p:extLst>
      <p:ext uri="{BB962C8B-B14F-4D97-AF65-F5344CB8AC3E}">
        <p14:creationId xmlns:p14="http://schemas.microsoft.com/office/powerpoint/2010/main" val="727671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7EAEC12C-97CA-4888-BBD6-E1A6D1204C49}"/>
              </a:ext>
            </a:extLst>
          </p:cNvPr>
          <p:cNvSpPr/>
          <p:nvPr/>
        </p:nvSpPr>
        <p:spPr>
          <a:xfrm>
            <a:off x="762000" y="723900"/>
            <a:ext cx="17983200" cy="997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Acessorios,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lataria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lavaçao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peças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lang="pt-BR" sz="5884" dirty="0"/>
          </a:p>
        </p:txBody>
      </p:sp>
      <p:sp>
        <p:nvSpPr>
          <p:cNvPr id="2" name="Freeform 6">
            <a:extLst>
              <a:ext uri="{FF2B5EF4-FFF2-40B4-BE49-F238E27FC236}">
                <a16:creationId xmlns:a16="http://schemas.microsoft.com/office/drawing/2014/main" id="{18C5FBB3-1545-20C2-BAD5-F0DD5D6E9E70}"/>
              </a:ext>
            </a:extLst>
          </p:cNvPr>
          <p:cNvSpPr/>
          <p:nvPr/>
        </p:nvSpPr>
        <p:spPr>
          <a:xfrm>
            <a:off x="-1" y="9105900"/>
            <a:ext cx="18288001" cy="11811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76A036B-69C7-F331-BB8E-C6AE13DFD2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0" y="1721737"/>
            <a:ext cx="12268200" cy="7612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562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FA0B3-2C95-587C-5641-2B4711EDD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C5F8D97F-D4B8-7E84-F765-F208292FD820}"/>
              </a:ext>
            </a:extLst>
          </p:cNvPr>
          <p:cNvSpPr/>
          <p:nvPr/>
        </p:nvSpPr>
        <p:spPr>
          <a:xfrm>
            <a:off x="762000" y="723900"/>
            <a:ext cx="17983200" cy="997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Bau    </a:t>
            </a:r>
            <a:endParaRPr lang="pt-BR" sz="5884" dirty="0"/>
          </a:p>
        </p:txBody>
      </p:sp>
      <p:sp>
        <p:nvSpPr>
          <p:cNvPr id="2" name="Freeform 6">
            <a:extLst>
              <a:ext uri="{FF2B5EF4-FFF2-40B4-BE49-F238E27FC236}">
                <a16:creationId xmlns:a16="http://schemas.microsoft.com/office/drawing/2014/main" id="{F262DB52-2CA1-12D4-4FC2-B01B53463F07}"/>
              </a:ext>
            </a:extLst>
          </p:cNvPr>
          <p:cNvSpPr/>
          <p:nvPr/>
        </p:nvSpPr>
        <p:spPr>
          <a:xfrm>
            <a:off x="-1" y="9105900"/>
            <a:ext cx="18288001" cy="11811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911ACDF-530C-869B-9AE6-AAF6DC36A8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1721737"/>
            <a:ext cx="11811000" cy="715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9892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6933692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Sm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geradas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Valor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embacado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R$ 140.169.484,16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91472325"/>
              </p:ext>
            </p:extLst>
          </p:nvPr>
        </p:nvGraphicFramePr>
        <p:xfrm>
          <a:off x="1381128" y="1832483"/>
          <a:ext cx="16906872" cy="78830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756506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0304285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Principais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destinos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2855836"/>
              </p:ext>
            </p:extLst>
          </p:nvPr>
        </p:nvGraphicFramePr>
        <p:xfrm>
          <a:off x="1295400" y="1765764"/>
          <a:ext cx="17906995" cy="78222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723268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0304285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Sinistro  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8891420"/>
              </p:ext>
            </p:extLst>
          </p:nvPr>
        </p:nvGraphicFramePr>
        <p:xfrm>
          <a:off x="1604493" y="1765764"/>
          <a:ext cx="16104477" cy="71972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756502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0304285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64752778"/>
              </p:ext>
            </p:extLst>
          </p:nvPr>
        </p:nvGraphicFramePr>
        <p:xfrm>
          <a:off x="1100672" y="678635"/>
          <a:ext cx="17891364" cy="929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9" name="Imagem 8">
            <a:extLst>
              <a:ext uri="{FF2B5EF4-FFF2-40B4-BE49-F238E27FC236}">
                <a16:creationId xmlns:a16="http://schemas.microsoft.com/office/drawing/2014/main" id="{09517D77-6AA9-2CF1-D480-889E4CB249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-228600"/>
            <a:ext cx="18673031" cy="948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402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2007533" y="6879598"/>
            <a:ext cx="21262145" cy="475740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21262145" y="0"/>
                </a:moveTo>
                <a:lnTo>
                  <a:pt x="0" y="0"/>
                </a:lnTo>
                <a:lnTo>
                  <a:pt x="0" y="4757404"/>
                </a:lnTo>
                <a:lnTo>
                  <a:pt x="21262145" y="4757404"/>
                </a:lnTo>
                <a:lnTo>
                  <a:pt x="21262145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541172" y="522631"/>
            <a:ext cx="3989076" cy="2217468"/>
            <a:chOff x="0" y="0"/>
            <a:chExt cx="5318769" cy="2956624"/>
          </a:xfrm>
        </p:grpSpPr>
        <p:sp>
          <p:nvSpPr>
            <p:cNvPr id="5" name="Freeform 5"/>
            <p:cNvSpPr/>
            <p:nvPr/>
          </p:nvSpPr>
          <p:spPr>
            <a:xfrm>
              <a:off x="0" y="1617791"/>
              <a:ext cx="5318769" cy="685359"/>
            </a:xfrm>
            <a:custGeom>
              <a:avLst/>
              <a:gdLst/>
              <a:ahLst/>
              <a:cxnLst/>
              <a:rect l="l" t="t" r="r" b="b"/>
              <a:pathLst>
                <a:path w="5318769" h="685359">
                  <a:moveTo>
                    <a:pt x="0" y="0"/>
                  </a:moveTo>
                  <a:lnTo>
                    <a:pt x="5318769" y="0"/>
                  </a:lnTo>
                  <a:lnTo>
                    <a:pt x="5318769" y="685359"/>
                  </a:lnTo>
                  <a:lnTo>
                    <a:pt x="0" y="6853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46867" b="-329187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0" y="0"/>
              <a:ext cx="5318769" cy="1617791"/>
            </a:xfrm>
            <a:custGeom>
              <a:avLst/>
              <a:gdLst/>
              <a:ahLst/>
              <a:cxnLst/>
              <a:rect l="l" t="t" r="r" b="b"/>
              <a:pathLst>
                <a:path w="5318769" h="1617791">
                  <a:moveTo>
                    <a:pt x="0" y="0"/>
                  </a:moveTo>
                  <a:lnTo>
                    <a:pt x="5318769" y="0"/>
                  </a:lnTo>
                  <a:lnTo>
                    <a:pt x="5318769" y="1617791"/>
                  </a:lnTo>
                  <a:lnTo>
                    <a:pt x="0" y="1617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46946" b="-181820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2303150"/>
              <a:ext cx="5318769" cy="653473"/>
            </a:xfrm>
            <a:custGeom>
              <a:avLst/>
              <a:gdLst/>
              <a:ahLst/>
              <a:cxnLst/>
              <a:rect l="l" t="t" r="r" b="b"/>
              <a:pathLst>
                <a:path w="5318769" h="653473">
                  <a:moveTo>
                    <a:pt x="0" y="0"/>
                  </a:moveTo>
                  <a:lnTo>
                    <a:pt x="5318769" y="0"/>
                  </a:lnTo>
                  <a:lnTo>
                    <a:pt x="5318769" y="653474"/>
                  </a:lnTo>
                  <a:lnTo>
                    <a:pt x="0" y="653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471642" b="-242280"/>
              </a:stretch>
            </a:blipFill>
          </p:spPr>
        </p:sp>
      </p:grpSp>
      <p:sp>
        <p:nvSpPr>
          <p:cNvPr id="8" name="AutoShape 8"/>
          <p:cNvSpPr/>
          <p:nvPr/>
        </p:nvSpPr>
        <p:spPr>
          <a:xfrm flipV="1">
            <a:off x="1028700" y="3494253"/>
            <a:ext cx="19050" cy="1126600"/>
          </a:xfrm>
          <a:prstGeom prst="line">
            <a:avLst/>
          </a:prstGeom>
          <a:ln w="95250" cap="flat">
            <a:solidFill>
              <a:srgbClr val="0B0B3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1370847" y="3370428"/>
            <a:ext cx="18703803" cy="130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36"/>
              </a:lnSpc>
            </a:pPr>
            <a:r>
              <a:rPr lang="en-US" sz="9058" b="1" dirty="0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OBRIGADO!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48D9D533-1F50-4B20-BEFA-21C9335703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0" y="-522"/>
            <a:ext cx="5927833" cy="8458200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D84F824C-00F1-4A27-AF57-3434E77FAF0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28833" y="666653"/>
            <a:ext cx="4968767" cy="67817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2838</TotalTime>
  <Words>226</Words>
  <Application>Microsoft Office PowerPoint</Application>
  <PresentationFormat>Personalizar</PresentationFormat>
  <Paragraphs>58</Paragraphs>
  <Slides>14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9" baseType="lpstr">
      <vt:lpstr>Arial</vt:lpstr>
      <vt:lpstr>Calibri</vt:lpstr>
      <vt:lpstr>Arial Bold</vt:lpstr>
      <vt:lpstr>Arial MT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Cópia de ApresentaçãoPadrãoPE</dc:title>
  <dc:creator>Usuário</dc:creator>
  <cp:lastModifiedBy>Usuário</cp:lastModifiedBy>
  <cp:revision>79</cp:revision>
  <dcterms:created xsi:type="dcterms:W3CDTF">2006-08-16T00:00:00Z</dcterms:created>
  <dcterms:modified xsi:type="dcterms:W3CDTF">2025-09-15T13:36:42Z</dcterms:modified>
  <dc:identifier>DAGkDGwIfr0</dc:identifier>
</cp:coreProperties>
</file>