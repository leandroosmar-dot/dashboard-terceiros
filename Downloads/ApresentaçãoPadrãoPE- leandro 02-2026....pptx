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4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5.xml" ContentType="application/vnd.openxmlformats-officedocument.drawingml.chartshape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6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7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8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9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71" r:id="rId3"/>
    <p:sldId id="285" r:id="rId4"/>
    <p:sldId id="290" r:id="rId5"/>
    <p:sldId id="286" r:id="rId6"/>
    <p:sldId id="287" r:id="rId7"/>
    <p:sldId id="288" r:id="rId8"/>
    <p:sldId id="292" r:id="rId9"/>
    <p:sldId id="293" r:id="rId10"/>
    <p:sldId id="294" r:id="rId11"/>
    <p:sldId id="295" r:id="rId12"/>
    <p:sldId id="298" r:id="rId13"/>
    <p:sldId id="289" r:id="rId14"/>
    <p:sldId id="280" r:id="rId15"/>
    <p:sldId id="299" r:id="rId16"/>
    <p:sldId id="296" r:id="rId17"/>
    <p:sldId id="281" r:id="rId18"/>
    <p:sldId id="297" r:id="rId19"/>
    <p:sldId id="300" r:id="rId20"/>
    <p:sldId id="264" r:id="rId21"/>
  </p:sldIdLst>
  <p:sldSz cx="18288000" cy="10287000"/>
  <p:notesSz cx="6858000" cy="9144000"/>
  <p:embeddedFontLst>
    <p:embeddedFont>
      <p:font typeface="Arial Bold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67 %  Atrasado / 33% Em andamento </a:t>
            </a: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b="1" dirty="0">
                <a:solidFill>
                  <a:schemeClr val="accent2"/>
                </a:solidFill>
              </a:rPr>
              <a:t>67</a:t>
            </a:r>
            <a:r>
              <a:rPr lang="en-US" sz="4400" b="1" baseline="0" dirty="0">
                <a:solidFill>
                  <a:schemeClr val="accent2"/>
                </a:solidFill>
              </a:rPr>
              <a:t> %  </a:t>
            </a:r>
            <a:r>
              <a:rPr lang="en-US" sz="4400" b="1" baseline="0" dirty="0" err="1">
                <a:solidFill>
                  <a:schemeClr val="accent2"/>
                </a:solidFill>
              </a:rPr>
              <a:t>Atrasado</a:t>
            </a:r>
            <a:r>
              <a:rPr lang="en-US" sz="4400" b="1" baseline="0" dirty="0">
                <a:solidFill>
                  <a:schemeClr val="accent2"/>
                </a:solidFill>
              </a:rPr>
              <a:t> </a:t>
            </a:r>
            <a:r>
              <a:rPr lang="en-US" sz="4400" b="1" baseline="0" dirty="0"/>
              <a:t>/ </a:t>
            </a:r>
            <a:r>
              <a:rPr lang="en-US" sz="4400" b="1" baseline="0" dirty="0">
                <a:solidFill>
                  <a:schemeClr val="accent1"/>
                </a:solidFill>
              </a:rPr>
              <a:t>33% </a:t>
            </a:r>
            <a:r>
              <a:rPr lang="en-US" sz="4400" b="1" baseline="0" dirty="0" err="1">
                <a:solidFill>
                  <a:schemeClr val="accent1"/>
                </a:solidFill>
              </a:rPr>
              <a:t>Em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r>
              <a:rPr lang="en-US" sz="4400" b="1" baseline="0" dirty="0" err="1">
                <a:solidFill>
                  <a:schemeClr val="accent1"/>
                </a:solidFill>
              </a:rPr>
              <a:t>andamento</a:t>
            </a:r>
            <a:r>
              <a:rPr lang="en-US" sz="4400" b="1" baseline="0" dirty="0">
                <a:solidFill>
                  <a:schemeClr val="accent1"/>
                </a:solidFill>
              </a:rPr>
              <a:t> </a:t>
            </a:r>
            <a:endParaRPr lang="en-US" sz="4400" b="1" dirty="0">
              <a:solidFill>
                <a:schemeClr val="accent1"/>
              </a:solidFill>
            </a:endParaRPr>
          </a:p>
        </c:rich>
      </c:tx>
      <c:layout>
        <c:manualLayout>
          <c:xMode val="edge"/>
          <c:yMode val="edge"/>
          <c:x val="0.10565555555555556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8840108267716535"/>
          <c:y val="8.3953125000000003E-2"/>
          <c:w val="0.61069791666666662"/>
          <c:h val="0.91604687500000004"/>
        </c:manualLayout>
      </c:layout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drawing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0.24969</cdr:x>
      <cdr:y>0</cdr:y>
    </cdr:from>
    <cdr:to>
      <cdr:x>0.88727</cdr:x>
      <cdr:y>0.93159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1197D0D6-C4CC-4070-95DA-010A51A1BBA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321109" y="0"/>
          <a:ext cx="11033760" cy="726393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0.10063</cdr:x>
      <cdr:y>0</cdr:y>
    </cdr:from>
    <cdr:to>
      <cdr:x>0.83462</cdr:x>
      <cdr:y>0.94747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E42505D4-F072-42F7-9901-DEC77C72691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1741484" y="-1765764"/>
          <a:ext cx="12702226" cy="738776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0.95167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2AA3F08B-1A88-49CC-909D-84404F63A10C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6906871" cy="7502016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0.96643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3EAF8FD3-7E15-41B0-9475-89E925062ED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305780" cy="7822273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D705B798-6C7B-475F-B3B7-83AA0638F60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7906995" cy="7822273"/>
        </a:xfrm>
        <a:prstGeom xmlns:a="http://schemas.openxmlformats.org/drawingml/2006/main" prst="rect">
          <a:avLst/>
        </a:prstGeom>
      </cdr:spPr>
    </cdr:pic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6DA300D8-0C6A-4EC5-A1C3-44C3ABDC644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9202392" cy="7822273"/>
        </a:xfrm>
        <a:prstGeom xmlns:a="http://schemas.openxmlformats.org/drawingml/2006/main" prst="rect">
          <a:avLst/>
        </a:prstGeom>
      </cdr:spPr>
    </cdr:pic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19731F9B-22BF-5F2B-D63E-5E79E057B56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6104476" cy="7197217"/>
        </a:xfrm>
        <a:prstGeom xmlns:a="http://schemas.openxmlformats.org/drawingml/2006/main" prst="rect">
          <a:avLst/>
        </a:prstGeom>
      </cdr:spPr>
    </cdr:pic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</cdr:x>
      <cdr:y>0.05368</cdr:y>
    </cdr:from>
    <cdr:to>
      <cdr:x>0.97784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01DD0B4-FDC9-4F79-B738-D9E469FEB66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412072"/>
          <a:ext cx="19651478" cy="7263787"/>
        </a:xfrm>
        <a:prstGeom xmlns:a="http://schemas.openxmlformats.org/drawingml/2006/main" prst="rect">
          <a:avLst/>
        </a:prstGeom>
      </cdr:spPr>
    </cdr:pic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</cdr:x>
      <cdr:y>0.14771</cdr:y>
    </cdr:from>
    <cdr:to>
      <cdr:x>1</cdr:x>
      <cdr:y>0.50107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D09CBE3C-0DBC-406C-BA3E-7A65FE9DD567}"/>
            </a:ext>
          </a:extLst>
        </cdr:cNvPr>
        <cdr:cNvSpPr txBox="1"/>
      </cdr:nvSpPr>
      <cdr:spPr>
        <a:xfrm xmlns:a="http://schemas.openxmlformats.org/drawingml/2006/main">
          <a:off x="0" y="1063128"/>
          <a:ext cx="17810812" cy="254320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pt-BR" sz="2800" dirty="0"/>
        </a:p>
      </cdr:txBody>
    </cdr:sp>
  </cdr:relSizeAnchor>
  <cdr:relSizeAnchor xmlns:cdr="http://schemas.openxmlformats.org/drawingml/2006/chartDrawing">
    <cdr:from>
      <cdr:x>0.00242</cdr:x>
      <cdr:y>0.06896</cdr:y>
    </cdr:from>
    <cdr:to>
      <cdr:x>0.97488</cdr:x>
      <cdr:y>0.99468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4BBEC89B-B3B5-47B0-9D77-0707071AF14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8008" y="632289"/>
          <a:ext cx="19298797" cy="8487899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67F8B-2609-4C6A-B648-B712EA4B5DB5}" type="datetimeFigureOut">
              <a:rPr lang="pt-BR" smtClean="0"/>
              <a:t>11/03/2026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6241-94DF-4EB4-974C-91D99427F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56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C76241-94DF-4EB4-974C-91D99427F8F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84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55" b="-16555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3" name="Freeform 3"/>
          <p:cNvSpPr/>
          <p:nvPr/>
        </p:nvSpPr>
        <p:spPr>
          <a:xfrm>
            <a:off x="0" y="7901902"/>
            <a:ext cx="18288000" cy="3735101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2337212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49777" y="312109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GR &amp; FROTA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6375" y="6212853"/>
            <a:ext cx="7017584" cy="485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Apresentado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por: Leandro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osmar</a:t>
            </a:r>
            <a:r>
              <a:rPr lang="en-US" sz="2873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2873" b="1" dirty="0" err="1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berndt</a:t>
            </a:r>
            <a:endParaRPr lang="en-US" sz="2873" b="1" dirty="0">
              <a:solidFill>
                <a:srgbClr val="0B0B3D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6375" y="6755773"/>
            <a:ext cx="8886718" cy="48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0"/>
              </a:lnSpc>
            </a:pPr>
            <a:r>
              <a:rPr lang="en-US" sz="2864" b="1" dirty="0" err="1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Período</a:t>
            </a:r>
            <a:r>
              <a:rPr lang="en-US" sz="2864" b="1" dirty="0">
                <a:solidFill>
                  <a:srgbClr val="FF6428"/>
                </a:solidFill>
                <a:latin typeface="Arial Bold"/>
                <a:ea typeface="Arial Bold"/>
                <a:cs typeface="Arial Bold"/>
                <a:sym typeface="Arial Bold"/>
              </a:rPr>
              <a:t>: 02-2026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8208330"/>
              </p:ext>
            </p:extLst>
          </p:nvPr>
        </p:nvGraphicFramePr>
        <p:xfrm>
          <a:off x="1189483" y="1765764"/>
          <a:ext cx="17305790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10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5702455" cy="80189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GXH-8043  </a:t>
            </a: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R$ 9.697,32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troca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do motor de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arranque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e Socorro.</a:t>
            </a:r>
          </a:p>
          <a:p>
            <a:pPr marL="857250" indent="-857250" algn="l">
              <a:lnSpc>
                <a:spcPts val="4792"/>
              </a:lnSpc>
              <a:buFont typeface="Arial" panose="020B0604020202020204" pitchFamily="34" charset="0"/>
              <a:buChar char="•"/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endParaRPr lang="en-US" sz="584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360047"/>
              </p:ext>
            </p:extLst>
          </p:nvPr>
        </p:nvGraphicFramePr>
        <p:xfrm>
          <a:off x="1155035" y="5829300"/>
          <a:ext cx="17305790" cy="373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3331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B2AE-398B-08D5-72B1-A60AFE34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88ABB3-1D41-3FC7-AB6F-0010DFE744B2}"/>
              </a:ext>
            </a:extLst>
          </p:cNvPr>
          <p:cNvSpPr/>
          <p:nvPr/>
        </p:nvSpPr>
        <p:spPr>
          <a:xfrm>
            <a:off x="-1036965" y="-4953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F69C83B-755A-E7E4-3949-7911C827002C}"/>
              </a:ext>
            </a:extLst>
          </p:cNvPr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23EBC0-C4A1-041B-FE8F-D60FB7A140F5}"/>
              </a:ext>
            </a:extLst>
          </p:cNvPr>
          <p:cNvSpPr txBox="1"/>
          <p:nvPr/>
        </p:nvSpPr>
        <p:spPr>
          <a:xfrm>
            <a:off x="1430507" y="1133475"/>
            <a:ext cx="69514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Preventiva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A20F6BB-C472-977B-5D33-30C8FBF05C74}"/>
              </a:ext>
            </a:extLst>
          </p:cNvPr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1060F2-B713-F6BC-8538-12930DC17460}"/>
              </a:ext>
            </a:extLst>
          </p:cNvPr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3416B7B2-D624-EE94-B4FF-290E4DDB9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149850"/>
              </p:ext>
            </p:extLst>
          </p:nvPr>
        </p:nvGraphicFramePr>
        <p:xfrm>
          <a:off x="1155035" y="1765764"/>
          <a:ext cx="17305790" cy="779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3755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Corretiva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pt-BR" sz="5884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CF344EAB-19A8-EB09-AE40-6E84BA533F8F}"/>
              </a:ext>
            </a:extLst>
          </p:cNvPr>
          <p:cNvSpPr/>
          <p:nvPr/>
        </p:nvSpPr>
        <p:spPr>
          <a:xfrm>
            <a:off x="-1" y="8877300"/>
            <a:ext cx="18288001" cy="14097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0D709D-49A3-4191-906A-8D7332BDD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333500"/>
            <a:ext cx="10439400" cy="77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23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1295400" y="723900"/>
            <a:ext cx="60960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Socorro </a:t>
            </a:r>
            <a:endParaRPr lang="pt-BR" sz="5884" dirty="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664D922-D62A-8199-5998-E48D19F8C57D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530C1B-8C24-47F4-A4E4-147FE3843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257300"/>
            <a:ext cx="10134599" cy="784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67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AEC12C-97CA-4888-BBD6-E1A6D1204C49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Acessorios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18C5FBB3-1545-20C2-BAD5-F0DD5D6E9E70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E2950C-FD85-4791-94AB-8ABED9D3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1562100"/>
            <a:ext cx="9829799" cy="769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562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Bau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B40612B-0FE0-44D1-9EE7-00ED29534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721738"/>
            <a:ext cx="9677399" cy="738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Lavação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D360E4-0B23-49AF-9F66-EB73A3EFA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721738"/>
            <a:ext cx="11201400" cy="75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4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Lataria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403700-0A71-472E-A57A-AA1729DCE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1721737"/>
            <a:ext cx="9524999" cy="73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762000" y="723900"/>
            <a:ext cx="17983200" cy="99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Pneus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BE8FD4D-9AC8-43B1-89E7-32C3461C1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9" y="1721737"/>
            <a:ext cx="10668000" cy="729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0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A0B3-2C95-587C-5641-2B4711ED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5F8D97F-D4B8-7E84-F765-F208292FD820}"/>
              </a:ext>
            </a:extLst>
          </p:cNvPr>
          <p:cNvSpPr/>
          <p:nvPr/>
        </p:nvSpPr>
        <p:spPr>
          <a:xfrm>
            <a:off x="533400" y="419100"/>
            <a:ext cx="17297400" cy="7240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8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veicular</a:t>
            </a:r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sz="5884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Foi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instalado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eletrico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nos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veiculos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MKQ2E28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GXH8043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endParaRPr lang="en-US" sz="36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Consertado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condicionado</a:t>
            </a:r>
            <a:endParaRPr lang="en-US" sz="36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QIY4838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MLM9642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OKG5I79</a:t>
            </a:r>
          </a:p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MIY6C60</a:t>
            </a:r>
            <a:r>
              <a:rPr lang="en-US" sz="588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lang="pt-BR" sz="5884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F262DB52-2CA1-12D4-4FC2-B01B53463F07}"/>
              </a:ext>
            </a:extLst>
          </p:cNvPr>
          <p:cNvSpPr/>
          <p:nvPr/>
        </p:nvSpPr>
        <p:spPr>
          <a:xfrm>
            <a:off x="-1" y="9105900"/>
            <a:ext cx="18288001" cy="1181100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2177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6933692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Sm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geradas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Valor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embacado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R$ 125.253.273,30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7216231"/>
              </p:ext>
            </p:extLst>
          </p:nvPr>
        </p:nvGraphicFramePr>
        <p:xfrm>
          <a:off x="-19" y="1832483"/>
          <a:ext cx="19313465" cy="78830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6506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Principais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destinos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0093812"/>
              </p:ext>
            </p:extLst>
          </p:nvPr>
        </p:nvGraphicFramePr>
        <p:xfrm>
          <a:off x="0" y="1765764"/>
          <a:ext cx="19964400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2326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Exceção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motoristas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814831"/>
              </p:ext>
            </p:extLst>
          </p:nvPr>
        </p:nvGraphicFramePr>
        <p:xfrm>
          <a:off x="0" y="1765764"/>
          <a:ext cx="19202395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25265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Tempo medio de checklist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22776"/>
              </p:ext>
            </p:extLst>
          </p:nvPr>
        </p:nvGraphicFramePr>
        <p:xfrm>
          <a:off x="-18" y="1765764"/>
          <a:ext cx="19313466" cy="7822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7764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0304285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Sinistro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8891420"/>
              </p:ext>
            </p:extLst>
          </p:nvPr>
        </p:nvGraphicFramePr>
        <p:xfrm>
          <a:off x="1604493" y="1765764"/>
          <a:ext cx="16104477" cy="719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75650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5235868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4571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19100"/>
            <a:ext cx="1931348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1009650" y="889175"/>
            <a:ext cx="0" cy="11266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30506" y="1133475"/>
            <a:ext cx="17669804" cy="632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2"/>
              </a:lnSpc>
            </a:pP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844" dirty="0" err="1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andamento</a:t>
            </a:r>
            <a:r>
              <a:rPr lang="en-US" sz="5844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600" dirty="0"/>
              <a:t>  </a:t>
            </a:r>
            <a:r>
              <a:rPr lang="en-US" sz="3600" dirty="0">
                <a:solidFill>
                  <a:srgbClr val="07073B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9482" y="2008155"/>
            <a:ext cx="16116300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endParaRPr lang="pt-BR" sz="3000" spc="-10" dirty="0">
              <a:solidFill>
                <a:srgbClr val="07073B"/>
              </a:solidFill>
              <a:latin typeface="Arial MT"/>
              <a:cs typeface="Arial MT"/>
            </a:endParaRPr>
          </a:p>
          <a:p>
            <a:pPr algn="l">
              <a:lnSpc>
                <a:spcPts val="3210"/>
              </a:lnSpc>
            </a:pPr>
            <a:endParaRPr lang="en-US" sz="3000" dirty="0">
              <a:solidFill>
                <a:srgbClr val="0707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-1" y="8561355"/>
            <a:ext cx="19313467" cy="172564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0" y="0"/>
                </a:moveTo>
                <a:lnTo>
                  <a:pt x="21262145" y="0"/>
                </a:lnTo>
                <a:lnTo>
                  <a:pt x="21262145" y="4757404"/>
                </a:lnTo>
                <a:lnTo>
                  <a:pt x="0" y="4757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B2F0B0E-F645-406E-B96D-A83ADB99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06092668"/>
              </p:ext>
            </p:extLst>
          </p:nvPr>
        </p:nvGraphicFramePr>
        <p:xfrm>
          <a:off x="-33340" y="1166812"/>
          <a:ext cx="19845339" cy="916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76149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55" b="-1655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07533" y="6879598"/>
            <a:ext cx="21262145" cy="4757405"/>
          </a:xfrm>
          <a:custGeom>
            <a:avLst/>
            <a:gdLst/>
            <a:ahLst/>
            <a:cxnLst/>
            <a:rect l="l" t="t" r="r" b="b"/>
            <a:pathLst>
              <a:path w="21262145" h="4757405">
                <a:moveTo>
                  <a:pt x="21262145" y="0"/>
                </a:moveTo>
                <a:lnTo>
                  <a:pt x="0" y="0"/>
                </a:lnTo>
                <a:lnTo>
                  <a:pt x="0" y="4757404"/>
                </a:lnTo>
                <a:lnTo>
                  <a:pt x="21262145" y="4757404"/>
                </a:lnTo>
                <a:lnTo>
                  <a:pt x="21262145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41172" y="522631"/>
            <a:ext cx="3989076" cy="2217468"/>
            <a:chOff x="0" y="0"/>
            <a:chExt cx="5318769" cy="2956624"/>
          </a:xfrm>
        </p:grpSpPr>
        <p:sp>
          <p:nvSpPr>
            <p:cNvPr id="5" name="Freeform 5"/>
            <p:cNvSpPr/>
            <p:nvPr/>
          </p:nvSpPr>
          <p:spPr>
            <a:xfrm>
              <a:off x="0" y="1617791"/>
              <a:ext cx="5318769" cy="685359"/>
            </a:xfrm>
            <a:custGeom>
              <a:avLst/>
              <a:gdLst/>
              <a:ahLst/>
              <a:cxnLst/>
              <a:rect l="l" t="t" r="r" b="b"/>
              <a:pathLst>
                <a:path w="5318769" h="685359">
                  <a:moveTo>
                    <a:pt x="0" y="0"/>
                  </a:moveTo>
                  <a:lnTo>
                    <a:pt x="5318769" y="0"/>
                  </a:lnTo>
                  <a:lnTo>
                    <a:pt x="5318769" y="685359"/>
                  </a:lnTo>
                  <a:lnTo>
                    <a:pt x="0" y="68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46867" b="-329187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5318769" cy="1617791"/>
            </a:xfrm>
            <a:custGeom>
              <a:avLst/>
              <a:gdLst/>
              <a:ahLst/>
              <a:cxnLst/>
              <a:rect l="l" t="t" r="r" b="b"/>
              <a:pathLst>
                <a:path w="5318769" h="1617791">
                  <a:moveTo>
                    <a:pt x="0" y="0"/>
                  </a:moveTo>
                  <a:lnTo>
                    <a:pt x="5318769" y="0"/>
                  </a:lnTo>
                  <a:lnTo>
                    <a:pt x="5318769" y="1617791"/>
                  </a:lnTo>
                  <a:lnTo>
                    <a:pt x="0" y="161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946" b="-18182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2303150"/>
              <a:ext cx="5318769" cy="653473"/>
            </a:xfrm>
            <a:custGeom>
              <a:avLst/>
              <a:gdLst/>
              <a:ahLst/>
              <a:cxnLst/>
              <a:rect l="l" t="t" r="r" b="b"/>
              <a:pathLst>
                <a:path w="5318769" h="653473">
                  <a:moveTo>
                    <a:pt x="0" y="0"/>
                  </a:moveTo>
                  <a:lnTo>
                    <a:pt x="5318769" y="0"/>
                  </a:lnTo>
                  <a:lnTo>
                    <a:pt x="5318769" y="653474"/>
                  </a:lnTo>
                  <a:lnTo>
                    <a:pt x="0" y="653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1642" b="-242280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 flipV="1">
            <a:off x="1028700" y="3494253"/>
            <a:ext cx="19050" cy="1126600"/>
          </a:xfrm>
          <a:prstGeom prst="line">
            <a:avLst/>
          </a:prstGeom>
          <a:ln w="95250" cap="flat">
            <a:solidFill>
              <a:srgbClr val="0B0B3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70847" y="3370428"/>
            <a:ext cx="18703803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36"/>
              </a:lnSpc>
            </a:pPr>
            <a:r>
              <a:rPr lang="en-US" sz="9058" b="1" dirty="0">
                <a:solidFill>
                  <a:srgbClr val="0B0B3D"/>
                </a:solidFill>
                <a:latin typeface="Arial Bold"/>
                <a:ea typeface="Arial Bold"/>
                <a:cs typeface="Arial Bold"/>
                <a:sym typeface="Arial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181</Words>
  <Application>Microsoft Office PowerPoint</Application>
  <PresentationFormat>Personalizar</PresentationFormat>
  <Paragraphs>54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Calibri</vt:lpstr>
      <vt:lpstr>Wingdings</vt:lpstr>
      <vt:lpstr>Arial Bold</vt:lpstr>
      <vt:lpstr>Arial MT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ApresentaçãoPadrãoPE</dc:title>
  <dc:creator>Usuário</dc:creator>
  <cp:lastModifiedBy>Leandro Osmar</cp:lastModifiedBy>
  <cp:revision>81</cp:revision>
  <dcterms:created xsi:type="dcterms:W3CDTF">2006-08-16T00:00:00Z</dcterms:created>
  <dcterms:modified xsi:type="dcterms:W3CDTF">2026-03-11T18:06:47Z</dcterms:modified>
  <dc:identifier>DAGkDGwIfr0</dc:identifier>
</cp:coreProperties>
</file>